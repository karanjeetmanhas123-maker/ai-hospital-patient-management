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3" r:id="rId1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2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36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651052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C6C7E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6583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E1C30"/>
                </a:solidFill>
              </a:defRPr>
            </a:pPr>
            <a:r>
              <a:t>AI Hospital</a:t>
            </a:r>
            <a:br/>
            <a:r>
              <a:t>Patient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063240"/>
            <a:ext cx="6126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C6C7E"/>
                </a:solidFill>
              </a:defRPr>
            </a:pPr>
            <a:r>
              <a:t>An n8n-based workflow automation system integrating AI, OCR, Google services and structured hospital records.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777240"/>
            <a:ext cx="34747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07899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6B0BE"/>
                </a:solidFill>
              </a:defRPr>
            </a:pPr>
            <a:r>
              <a:t>PROJECT AT A GLANCE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645920"/>
            <a:ext cx="475488" cy="384048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719072"/>
            <a:ext cx="3291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364D2"/>
                </a:solidFill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9952" y="170992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E1C30"/>
                </a:solidFill>
              </a:defRPr>
            </a:pPr>
            <a:r>
              <a:t>Register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286000"/>
            <a:ext cx="475488" cy="384048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2359152"/>
            <a:ext cx="3291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364D2"/>
                </a:solidFill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9952" y="235000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E1C30"/>
                </a:solidFill>
              </a:defRPr>
            </a:pPr>
            <a:r>
              <a:t>Appointments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926080"/>
            <a:ext cx="475488" cy="384048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2999232"/>
            <a:ext cx="3291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364D2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9952" y="299008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E1C30"/>
                </a:solidFill>
              </a:defRPr>
            </a:pPr>
            <a:r>
              <a:t>AI Reports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566159"/>
            <a:ext cx="475488" cy="384048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2" y="3639311"/>
            <a:ext cx="3291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364D2"/>
                </a:solidFill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9952" y="3630167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E1C30"/>
                </a:solidFill>
              </a:defRPr>
            </a:pPr>
            <a:r>
              <a:t>Reminders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4206240"/>
            <a:ext cx="475488" cy="384048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1312" y="4279392"/>
            <a:ext cx="3291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364D2"/>
                </a:solidFill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59952" y="427024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E1C30"/>
                </a:solidFill>
              </a:defRPr>
            </a:pPr>
            <a:r>
              <a:t>Billing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4846320"/>
            <a:ext cx="475488" cy="384048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11312" y="4919472"/>
            <a:ext cx="3291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364D2"/>
                </a:solidFill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59952" y="491032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E1C30"/>
                </a:solidFill>
              </a:defRPr>
            </a:pPr>
            <a:r>
              <a:t>Analytics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566928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364D2"/>
                </a:solidFill>
              </a:defRPr>
            </a:pPr>
            <a:r>
              <a:t>n8n  •  OpenAI  •  OCR.Space  •  Google Sheets  •  Gmail  •  Google Calendar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36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6B0BE"/>
                </a:solidFill>
              </a:defRPr>
            </a:pPr>
            <a: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51052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C6C7E"/>
                </a:solidFill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E1C30"/>
                </a:solidFill>
              </a:defRPr>
            </a:pPr>
            <a:r>
              <a:t>Why this project?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78992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C7E"/>
                </a:solidFill>
              </a:defRPr>
            </a:pPr>
            <a:r>
              <a:t>The project connects repetitive hospital tasks into traceable automated workflows.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1" y="1764792"/>
            <a:ext cx="502920" cy="384048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3" y="1837943"/>
            <a:ext cx="3566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364D2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176479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E1C30"/>
                </a:solidFill>
              </a:defRPr>
            </a:pPr>
            <a:r>
              <a:t>Fragmented Tasks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258568"/>
            <a:ext cx="310896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C6C7E"/>
                </a:solidFill>
              </a:defRPr>
            </a:pPr>
            <a:r>
              <a:t>Registration, scheduling, reports, reminders and billing are often handled separately.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002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07992" y="1764792"/>
            <a:ext cx="502920" cy="384048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1837943"/>
            <a:ext cx="3566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6B0BE"/>
                </a:solidFill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76479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E1C30"/>
                </a:solidFill>
              </a:defRPr>
            </a:pPr>
            <a:r>
              <a:t>Manual Follow-up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258568"/>
            <a:ext cx="310896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C6C7E"/>
                </a:solidFill>
              </a:defRPr>
            </a:pPr>
            <a:r>
              <a:t>Confirmations, reminders and routine communication can be delayed or missed.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6002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11312" y="1764792"/>
            <a:ext cx="502920" cy="384048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4464" y="1837943"/>
            <a:ext cx="3566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C9169"/>
                </a:solidFill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176479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E1C30"/>
                </a:solidFill>
              </a:defRPr>
            </a:pPr>
            <a:r>
              <a:t>Limited Traceability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258568"/>
            <a:ext cx="310896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C6C7E"/>
                </a:solidFill>
              </a:defRPr>
            </a:pPr>
            <a:r>
              <a:t>Without logs, it is harder to identify what ran, what failed and when.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886200"/>
            <a:ext cx="10881360" cy="1417320"/>
          </a:xfrm>
          <a:prstGeom prst="roundRect">
            <a:avLst/>
          </a:prstGeom>
          <a:solidFill>
            <a:srgbClr val="0E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2245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6B0BE"/>
                </a:solidFill>
              </a:defRPr>
            </a:pPr>
            <a:r>
              <a:t>PROJECT GOAL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409651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Automate the workflow — while keeping data, communication and execution history connected.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36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6B0BE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51052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C6C7E"/>
                </a:solidFill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E1C30"/>
                </a:solidFill>
              </a:defRPr>
            </a:pPr>
            <a:r>
              <a:t>How the system is organized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417320"/>
            <a:ext cx="1874519" cy="566928"/>
          </a:xfrm>
          <a:prstGeom prst="roundRect">
            <a:avLst/>
          </a:prstGeom>
          <a:solidFill>
            <a:srgbClr val="236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58191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417320"/>
            <a:ext cx="81381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563624"/>
            <a:ext cx="7589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E1C30"/>
                </a:solidFill>
              </a:defRPr>
            </a:pPr>
            <a:r>
              <a:t>Webhook / Schedule 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99339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C6C7E"/>
                </a:solidFill>
              </a:defRPr>
            </a:pPr>
            <a: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258568"/>
            <a:ext cx="1874519" cy="566928"/>
          </a:xfrm>
          <a:prstGeom prst="roundRect">
            <a:avLst/>
          </a:prstGeom>
          <a:solidFill>
            <a:srgbClr val="26B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42316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ORCHESTRATION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2258568"/>
            <a:ext cx="81381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2404872"/>
            <a:ext cx="7589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E1C30"/>
                </a:solidFill>
              </a:defRPr>
            </a:pPr>
            <a:r>
              <a:t>n8n workflows + decision 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283464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C6C7E"/>
                </a:solidFill>
              </a:defRPr>
            </a:pPr>
            <a: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099816"/>
            <a:ext cx="1874519" cy="566928"/>
          </a:xfrm>
          <a:prstGeom prst="roundRect">
            <a:avLst/>
          </a:prstGeom>
          <a:solidFill>
            <a:srgbClr val="1C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26440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INTELLIGENCE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26080" y="3099816"/>
            <a:ext cx="81381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3246120"/>
            <a:ext cx="7589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E1C30"/>
                </a:solidFill>
              </a:defRPr>
            </a:pPr>
            <a:r>
              <a:t>OCR.Space + OpenAI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367588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C6C7E"/>
                </a:solidFill>
              </a:defRPr>
            </a:pPr>
            <a: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3941064"/>
            <a:ext cx="1874519" cy="566928"/>
          </a:xfrm>
          <a:prstGeom prst="roundRect">
            <a:avLst/>
          </a:prstGeom>
          <a:solidFill>
            <a:srgbClr val="236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4105656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SERVICES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26080" y="3941064"/>
            <a:ext cx="81381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0" y="4087368"/>
            <a:ext cx="7589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E1C30"/>
                </a:solidFill>
              </a:defRPr>
            </a:pPr>
            <a:r>
              <a:t>Google Calendar + Gmail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4517136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C6C7E"/>
                </a:solidFill>
              </a:defRPr>
            </a:pPr>
            <a:r>
              <a:t>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4782312"/>
            <a:ext cx="1874519" cy="566928"/>
          </a:xfrm>
          <a:prstGeom prst="roundRect">
            <a:avLst/>
          </a:prstGeom>
          <a:solidFill>
            <a:srgbClr val="26B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4946904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DATA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26080" y="4782312"/>
            <a:ext cx="81381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0" y="4928616"/>
            <a:ext cx="7589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E1C30"/>
                </a:solidFill>
              </a:defRPr>
            </a:pPr>
            <a:r>
              <a:t>Google Sheets + Activity Log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36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6B0BE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51052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C6C7E"/>
                </a:solidFill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E1C30"/>
                </a:solidFill>
              </a:defRPr>
            </a:pPr>
            <a:r>
              <a:t>End-to-end event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78992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C7E"/>
                </a:solidFill>
              </a:defRPr>
            </a:pPr>
            <a:r>
              <a:t>Each workflow follows the same design pattern, but performs a different hospital task.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57400"/>
            <a:ext cx="1417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33271" y="2212848"/>
            <a:ext cx="530352" cy="384048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286000"/>
            <a:ext cx="38404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364D2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88920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E1C30"/>
                </a:solidFill>
              </a:defRPr>
            </a:pPr>
            <a:r>
              <a:t>Trigger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4505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6B0BE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21992" y="2057400"/>
            <a:ext cx="1417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60904" y="2212848"/>
            <a:ext cx="530352" cy="384048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34056" y="2286000"/>
            <a:ext cx="38404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364D2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13432" y="2788920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E1C30"/>
                </a:solidFill>
              </a:defRPr>
            </a:pPr>
            <a:r>
              <a:t>Validate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24505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6B0BE"/>
                </a:solidFill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9624" y="2057400"/>
            <a:ext cx="1417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88536" y="2212848"/>
            <a:ext cx="530352" cy="384048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61688" y="2286000"/>
            <a:ext cx="38404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364D2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41063" y="2788920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E1C30"/>
                </a:solidFill>
              </a:defRPr>
            </a:pPr>
            <a:r>
              <a:t>Process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66944" y="24505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6B0BE"/>
                </a:solidFill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77256" y="2057400"/>
            <a:ext cx="1417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916168" y="2212848"/>
            <a:ext cx="530352" cy="384048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2286000"/>
            <a:ext cx="38404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364D2"/>
                </a:solidFill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68696" y="2788920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E1C30"/>
                </a:solidFill>
              </a:defRPr>
            </a:pPr>
            <a:r>
              <a:t>Decide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24505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6B0BE"/>
                </a:solidFill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2057400"/>
            <a:ext cx="1417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543800" y="2212848"/>
            <a:ext cx="530352" cy="384048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16952" y="2286000"/>
            <a:ext cx="38404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364D2"/>
                </a:solidFill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96328" y="2788920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E1C30"/>
                </a:solidFill>
              </a:defRPr>
            </a:pPr>
            <a:r>
              <a:t>Store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2208" y="24505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6B0BE"/>
                </a:solidFill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32520" y="2057400"/>
            <a:ext cx="1417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71432" y="2212848"/>
            <a:ext cx="530352" cy="384048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44584" y="2286000"/>
            <a:ext cx="38404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364D2"/>
                </a:solidFill>
              </a:defRPr>
            </a:pPr>
            <a: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2788920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E1C30"/>
                </a:solidFill>
              </a:defRPr>
            </a:pPr>
            <a:r>
              <a:t>Notify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9840" y="24505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6B0BE"/>
                </a:solidFill>
              </a:defRPr>
            </a:pPr>
            <a: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360152" y="2057400"/>
            <a:ext cx="1417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799064" y="2212848"/>
            <a:ext cx="530352" cy="384048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872216" y="2286000"/>
            <a:ext cx="38404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364D2"/>
                </a:solidFill>
              </a:defRPr>
            </a:pPr>
            <a: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51592" y="2788920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E1C30"/>
                </a:solidFill>
              </a:defRPr>
            </a:pPr>
            <a:r>
              <a:t>Log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34440" y="4160520"/>
            <a:ext cx="9738360" cy="1143000"/>
          </a:xfrm>
          <a:prstGeom prst="roundRect">
            <a:avLst/>
          </a:prstGeom>
          <a:solidFill>
            <a:srgbClr val="E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508760" y="44074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E1C30"/>
                </a:solidFill>
              </a:defRPr>
            </a:pPr>
            <a:r>
              <a:t>Result: structured records + automated communication + visible execution history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36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6B0BE"/>
                </a:solidFill>
              </a:defRPr>
            </a:pPr>
            <a:r>
              <a:t>WORKFLOW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51052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C6C7E"/>
                </a:solidFill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E1C30"/>
                </a:solidFill>
              </a:defRPr>
            </a:pPr>
            <a:r>
              <a:t>Patient Registration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78992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C7E"/>
                </a:solidFill>
              </a:defRPr>
            </a:pPr>
            <a:r>
              <a:t>Duplicate checking before a new patient record is created.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1025" y="1481455"/>
            <a:ext cx="69037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" y="1627632"/>
            <a:ext cx="73152" cy="4014215"/>
          </a:xfrm>
          <a:prstGeom prst="rect">
            <a:avLst/>
          </a:prstGeom>
          <a:solidFill>
            <a:srgbClr val="236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879592"/>
            <a:ext cx="6903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C6C7E"/>
                </a:solidFill>
              </a:defRPr>
            </a:pPr>
            <a:r>
              <a:t>Figure 2 — Patient Registration n8n Workflow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463040"/>
            <a:ext cx="374903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36992" y="1627632"/>
            <a:ext cx="502920" cy="384048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10144" y="1700784"/>
            <a:ext cx="3566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364D2"/>
                </a:solidFill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627632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E1C30"/>
                </a:solidFill>
              </a:defRPr>
            </a:pPr>
            <a:r>
              <a:t>Receive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121408"/>
            <a:ext cx="338327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C6C7E"/>
                </a:solidFill>
              </a:defRPr>
            </a:pPr>
            <a:r>
              <a:t>Webhook receives registration details.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2761488"/>
            <a:ext cx="374903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36992" y="2926080"/>
            <a:ext cx="502920" cy="384048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0144" y="2999232"/>
            <a:ext cx="3566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6B0BE"/>
                </a:solidFill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926080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E1C30"/>
                </a:solidFill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3419856"/>
            <a:ext cx="338327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C6C7E"/>
                </a:solidFill>
              </a:defRPr>
            </a:pPr>
            <a:r>
              <a:t>Existing email/patient is checked before append.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4059936"/>
            <a:ext cx="374903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936992" y="4224528"/>
            <a:ext cx="502920" cy="384048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0144" y="4297680"/>
            <a:ext cx="3566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C9169"/>
                </a:solidFill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4224528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E1C30"/>
                </a:solidFill>
              </a:defRPr>
            </a:pPr>
            <a:r>
              <a:t>Confirm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4718304"/>
            <a:ext cx="338327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C6C7E"/>
                </a:solidFill>
              </a:defRPr>
            </a:pPr>
            <a:r>
              <a:t>Google Sheets + Gmail + Activity Log complete the flow.</a:t>
            </a:r>
          </a:p>
        </p:txBody>
      </p:sp>
      <p:pic>
        <p:nvPicPr>
          <p:cNvPr id="27" name="Picture 26" descr="Screenshot 2026-07-27 1254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985" y="1700530"/>
            <a:ext cx="6276975" cy="37992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36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6B0BE"/>
                </a:solidFill>
              </a:defRPr>
            </a:pPr>
            <a:r>
              <a:t>WORKFLOW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51052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C6C7E"/>
                </a:solidFill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E1C30"/>
                </a:solidFill>
              </a:defRPr>
            </a:pPr>
            <a:r>
              <a:t>Appointment Booking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78992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C7E"/>
                </a:solidFill>
              </a:defRPr>
            </a:pPr>
            <a:r>
              <a:t>Availability is checked before the appointment is stored and confirmed.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63040"/>
            <a:ext cx="69037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" y="1627632"/>
            <a:ext cx="73152" cy="4014215"/>
          </a:xfrm>
          <a:prstGeom prst="rect">
            <a:avLst/>
          </a:prstGeom>
          <a:solidFill>
            <a:srgbClr val="236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879592"/>
            <a:ext cx="6903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C6C7E"/>
                </a:solidFill>
              </a:defRPr>
            </a:pPr>
            <a:r>
              <a:t>Figure 4 — Appointment Booking n8n Workflow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463040"/>
            <a:ext cx="374903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36992" y="1627632"/>
            <a:ext cx="502920" cy="384048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10144" y="1700784"/>
            <a:ext cx="3566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364D2"/>
                </a:solidFill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627632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E1C30"/>
                </a:solidFill>
              </a:defRPr>
            </a:pPr>
            <a:r>
              <a:t>Verify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121408"/>
            <a:ext cx="338327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C6C7E"/>
                </a:solidFill>
              </a:defRPr>
            </a:pPr>
            <a:r>
              <a:t>Find Patient reads the patient record.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2761488"/>
            <a:ext cx="374903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36992" y="2926080"/>
            <a:ext cx="502920" cy="384048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0144" y="2999232"/>
            <a:ext cx="3566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6B0BE"/>
                </a:solidFill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926080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E1C30"/>
                </a:solidFill>
              </a:defRPr>
            </a:pPr>
            <a:r>
              <a:t>Schedule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3419856"/>
            <a:ext cx="338327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C6C7E"/>
                </a:solidFill>
              </a:defRPr>
            </a:pPr>
            <a:r>
              <a:t>Calendar availability and Slot Available? control routing.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4059936"/>
            <a:ext cx="374903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936992" y="4224528"/>
            <a:ext cx="502920" cy="384048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0144" y="4297680"/>
            <a:ext cx="3566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C9169"/>
                </a:solidFill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4224528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E1C30"/>
                </a:solidFill>
              </a:defRPr>
            </a:pPr>
            <a:r>
              <a:t>Record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4718304"/>
            <a:ext cx="338327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C6C7E"/>
                </a:solidFill>
              </a:defRPr>
            </a:pPr>
            <a:r>
              <a:t>Appointment is stored, emailed and logged.</a:t>
            </a:r>
          </a:p>
        </p:txBody>
      </p:sp>
      <p:pic>
        <p:nvPicPr>
          <p:cNvPr id="27" name="Picture 26" descr="Screenshot 2026-07-27 1252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260" y="2179955"/>
            <a:ext cx="6250940" cy="2933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36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6B0BE"/>
                </a:solidFill>
              </a:defRPr>
            </a:pPr>
            <a:r>
              <a:t>WORKFLOW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51052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C6C7E"/>
                </a:solidFill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E1C30"/>
                </a:solidFill>
              </a:defRPr>
            </a:pPr>
            <a:r>
              <a:t>Medical Report → AI-Assisted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78992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C7E"/>
                </a:solidFill>
              </a:defRPr>
            </a:pPr>
            <a:r>
              <a:t>The strongest AI component in the project.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1874519" cy="713232"/>
          </a:xfrm>
          <a:prstGeom prst="roundRect">
            <a:avLst/>
          </a:prstGeom>
          <a:solidFill>
            <a:srgbClr val="236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673351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6B0BE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98648" y="1508760"/>
            <a:ext cx="1874519" cy="713232"/>
          </a:xfrm>
          <a:prstGeom prst="roundRect">
            <a:avLst/>
          </a:prstGeom>
          <a:solidFill>
            <a:srgbClr val="26B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0088" y="1737360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OCR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1673351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6B0BE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11496" y="1508760"/>
            <a:ext cx="1874519" cy="713232"/>
          </a:xfrm>
          <a:prstGeom prst="roundRect">
            <a:avLst/>
          </a:prstGeom>
          <a:solidFill>
            <a:srgbClr val="1C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2936" y="1737360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OPENAI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6016" y="1673351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6B0BE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1508760"/>
            <a:ext cx="1874519" cy="713232"/>
          </a:xfrm>
          <a:prstGeom prst="roundRect">
            <a:avLst/>
          </a:prstGeom>
          <a:solidFill>
            <a:srgbClr val="236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15783" y="1737360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RISK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8863" y="1673351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6B0BE"/>
                </a:solidFill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37192" y="1508760"/>
            <a:ext cx="1874519" cy="713232"/>
          </a:xfrm>
          <a:prstGeom prst="roundRect">
            <a:avLst/>
          </a:prstGeom>
          <a:solidFill>
            <a:srgbClr val="26B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8632" y="1737360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STORE / EMAIL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2606040"/>
            <a:ext cx="667512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0392" y="2770632"/>
            <a:ext cx="73152" cy="2734056"/>
          </a:xfrm>
          <a:prstGeom prst="rect">
            <a:avLst/>
          </a:prstGeom>
          <a:solidFill>
            <a:srgbClr val="236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742432"/>
            <a:ext cx="6675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C6C7E"/>
                </a:solidFill>
              </a:defRPr>
            </a:pPr>
            <a:r>
              <a:t>Figure 6 — AI Medical Report Analysis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80960" y="2606040"/>
            <a:ext cx="3749039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73568" y="288036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6B0BE"/>
                </a:solidFill>
              </a:defRPr>
            </a:pPr>
            <a:r>
              <a:t>STRUCTURED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73568" y="3364992"/>
            <a:ext cx="3063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E1C30"/>
                </a:solidFill>
              </a:defRPr>
            </a:pPr>
            <a:r>
              <a:t>Disease / condition</a:t>
            </a:r>
            <a:br/>
            <a:r>
              <a:t>Risk level</a:t>
            </a:r>
            <a:br/>
            <a:r>
              <a:t>Medicines</a:t>
            </a:r>
            <a:br/>
            <a:r>
              <a:t>Lifestyle tips</a:t>
            </a:r>
            <a:br/>
            <a:r>
              <a:t>Doctor advice</a:t>
            </a:r>
            <a:br/>
            <a:r>
              <a:t>Summary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3568" y="5257800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D4949"/>
                </a:solidFill>
              </a:defRPr>
            </a:pPr>
            <a:r>
              <a:t>Clinical review remains necessary.</a:t>
            </a:r>
          </a:p>
        </p:txBody>
      </p:sp>
      <p:pic>
        <p:nvPicPr>
          <p:cNvPr id="30" name="Picture 29" descr="Screenshot 2026-07-27 1259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655" y="2879090"/>
            <a:ext cx="6186170" cy="24066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36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6B0BE"/>
                </a:solidFill>
              </a:defRPr>
            </a:pPr>
            <a:r>
              <a:t>WORKFLOW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51052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C6C7E"/>
                </a:solidFill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E1C30"/>
                </a:solidFill>
              </a:defRPr>
            </a:pPr>
            <a:r>
              <a:t>Medication Reminder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78992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C7E"/>
                </a:solidFill>
              </a:defRPr>
            </a:pPr>
            <a:r>
              <a:t>A scheduled workflow processes medicine records and sends due reminders.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63040"/>
            <a:ext cx="69037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" y="1627632"/>
            <a:ext cx="73152" cy="4014215"/>
          </a:xfrm>
          <a:prstGeom prst="rect">
            <a:avLst/>
          </a:prstGeom>
          <a:solidFill>
            <a:srgbClr val="236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879592"/>
            <a:ext cx="6903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C6C7E"/>
                </a:solidFill>
              </a:defRPr>
            </a:pPr>
            <a:r>
              <a:t>Figure 8 — Medication Reminder n8n Workflow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463040"/>
            <a:ext cx="374903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36992" y="1627632"/>
            <a:ext cx="502920" cy="384048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10144" y="1700784"/>
            <a:ext cx="3566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364D2"/>
                </a:solidFill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627632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E1C30"/>
                </a:solidFill>
              </a:defRPr>
            </a:pPr>
            <a:r>
              <a:t>Schedule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121408"/>
            <a:ext cx="338327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C6C7E"/>
                </a:solidFill>
              </a:defRPr>
            </a:pPr>
            <a:r>
              <a:t>Schedule Trigger starts the workflow.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2761488"/>
            <a:ext cx="374903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36992" y="2926080"/>
            <a:ext cx="502920" cy="384048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0144" y="2999232"/>
            <a:ext cx="3566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6B0BE"/>
                </a:solidFill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926080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E1C30"/>
                </a:solidFill>
              </a:defRPr>
            </a:pPr>
            <a:r>
              <a:t>Loop + IF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3419856"/>
            <a:ext cx="338327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C6C7E"/>
                </a:solidFill>
              </a:defRPr>
            </a:pPr>
            <a:r>
              <a:t>Medicine rows are checked one by one.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4059936"/>
            <a:ext cx="374903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936992" y="4224528"/>
            <a:ext cx="502920" cy="384048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0144" y="4297680"/>
            <a:ext cx="3566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C9169"/>
                </a:solidFill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4224528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E1C30"/>
                </a:solidFill>
              </a:defRPr>
            </a:pPr>
            <a:r>
              <a:t>Remind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4718304"/>
            <a:ext cx="338327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C6C7E"/>
                </a:solidFill>
              </a:defRPr>
            </a:pPr>
            <a:r>
              <a:t>Gmail sends the reminder; activity is logged.</a:t>
            </a:r>
          </a:p>
        </p:txBody>
      </p:sp>
      <p:pic>
        <p:nvPicPr>
          <p:cNvPr id="27" name="Picture 26" descr="Screenshot 2026-07-27 1305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9190" y="1700530"/>
            <a:ext cx="6181090" cy="34791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36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6B0BE"/>
                </a:solidFill>
              </a:defRPr>
            </a:pPr>
            <a:r>
              <a:t>WORKFLOW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51052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C6C7E"/>
                </a:solidFill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E1C30"/>
                </a:solidFill>
              </a:defRPr>
            </a:pPr>
            <a:r>
              <a:t>Billing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78992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C7E"/>
                </a:solidFill>
              </a:defRPr>
            </a:pPr>
            <a:r>
              <a:t>Charges are combined into a stored billing record and patient message.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36065"/>
            <a:ext cx="69037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" y="1627632"/>
            <a:ext cx="73152" cy="4014215"/>
          </a:xfrm>
          <a:prstGeom prst="rect">
            <a:avLst/>
          </a:prstGeom>
          <a:solidFill>
            <a:srgbClr val="236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879592"/>
            <a:ext cx="6903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C6C7E"/>
                </a:solidFill>
              </a:defRPr>
            </a:pPr>
            <a:r>
              <a:t>Figure 10 — Automated Billing n8n Workflow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463040"/>
            <a:ext cx="3749039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7556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6B0BE"/>
                </a:solidFill>
              </a:defRPr>
            </a:pPr>
            <a:r>
              <a:t>BILL COMPONENTS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267712"/>
            <a:ext cx="438912" cy="384048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9872" y="2340864"/>
            <a:ext cx="29260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364D2"/>
                </a:solidFill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340864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1C30"/>
                </a:solidFill>
              </a:defRPr>
            </a:pPr>
            <a:r>
              <a:t>Consultation Fee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834640"/>
            <a:ext cx="438912" cy="384048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9872" y="2907792"/>
            <a:ext cx="29260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364D2"/>
                </a:solidFill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290779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1C30"/>
                </a:solidFill>
              </a:defRPr>
            </a:pPr>
            <a:r>
              <a:t>Test Charges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401568"/>
            <a:ext cx="438912" cy="384048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9872" y="3474720"/>
            <a:ext cx="29260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364D2"/>
                </a:solidFill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34747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1C30"/>
                </a:solidFill>
              </a:defRPr>
            </a:pPr>
            <a:r>
              <a:t>Medicine Charges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968496"/>
            <a:ext cx="438912" cy="384048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19872" y="4041648"/>
            <a:ext cx="29260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364D2"/>
                </a:solidFill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404164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1C30"/>
                </a:solidFill>
              </a:defRPr>
            </a:pPr>
            <a:r>
              <a:t>Other Charges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4535424"/>
            <a:ext cx="438912" cy="384048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19872" y="4608576"/>
            <a:ext cx="29260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364D2"/>
                </a:solidFill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4608576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1C30"/>
                </a:solidFill>
              </a:defRPr>
            </a:pPr>
            <a:r>
              <a:t>Total Amount</a:t>
            </a:r>
          </a:p>
        </p:txBody>
      </p:sp>
      <p:pic>
        <p:nvPicPr>
          <p:cNvPr id="29" name="Picture 28" descr="Screenshot 2026-07-27 1308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010" y="2020570"/>
            <a:ext cx="6154420" cy="32086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36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6B0BE"/>
                </a:solidFill>
              </a:defRPr>
            </a:pPr>
            <a: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51052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C6C7E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E1C30"/>
                </a:solidFill>
              </a:defRPr>
            </a:pPr>
            <a:r>
              <a:t>Google Sheets: project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78992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C7E"/>
                </a:solidFill>
              </a:defRPr>
            </a:pPr>
            <a:r>
              <a:t>Use real sheets as evidence that the workflows are producing outputs.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6687185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" y="1581912"/>
            <a:ext cx="73152" cy="4105655"/>
          </a:xfrm>
          <a:prstGeom prst="rect">
            <a:avLst/>
          </a:prstGeom>
          <a:solidFill>
            <a:srgbClr val="236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925312"/>
            <a:ext cx="6629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C6C7E"/>
                </a:solidFill>
              </a:defRPr>
            </a:pPr>
            <a:r>
              <a:t>Figure — Google Sheets Output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80400" y="1417320"/>
            <a:ext cx="32410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0" y="165938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6B0BE"/>
                </a:solidFill>
              </a:defRPr>
            </a:pPr>
            <a:r>
              <a:t>SHEETS USED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2212848"/>
            <a:ext cx="438912" cy="384048"/>
          </a:xfrm>
          <a:prstGeom prst="roundRect">
            <a:avLst/>
          </a:prstGeom>
          <a:solidFill>
            <a:srgbClr val="E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45552" y="2286000"/>
            <a:ext cx="29260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6B0BE"/>
                </a:solidFill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28600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E1C30"/>
                </a:solidFill>
              </a:defRPr>
            </a:pPr>
            <a:r>
              <a:t>Patients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2715768"/>
            <a:ext cx="438912" cy="384048"/>
          </a:xfrm>
          <a:prstGeom prst="roundRect">
            <a:avLst/>
          </a:prstGeom>
          <a:solidFill>
            <a:srgbClr val="E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788920"/>
            <a:ext cx="29260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6B0BE"/>
                </a:solidFill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78892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E1C30"/>
                </a:solidFill>
              </a:defRPr>
            </a:pPr>
            <a:r>
              <a:t>Appointments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3218688"/>
            <a:ext cx="438912" cy="384048"/>
          </a:xfrm>
          <a:prstGeom prst="roundRect">
            <a:avLst/>
          </a:prstGeom>
          <a:solidFill>
            <a:srgbClr val="E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3291840"/>
            <a:ext cx="29260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6B0BE"/>
                </a:solidFill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29184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E1C30"/>
                </a:solidFill>
              </a:defRPr>
            </a:pPr>
            <a:r>
              <a:t>Reports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3721608"/>
            <a:ext cx="438912" cy="384048"/>
          </a:xfrm>
          <a:prstGeom prst="roundRect">
            <a:avLst/>
          </a:prstGeom>
          <a:solidFill>
            <a:srgbClr val="E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3794760"/>
            <a:ext cx="29260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6B0BE"/>
                </a:solidFill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79476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E1C30"/>
                </a:solidFill>
              </a:defRPr>
            </a:pPr>
            <a:r>
              <a:t>Medicines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4224528"/>
            <a:ext cx="438912" cy="384048"/>
          </a:xfrm>
          <a:prstGeom prst="roundRect">
            <a:avLst/>
          </a:prstGeom>
          <a:solidFill>
            <a:srgbClr val="E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4297680"/>
            <a:ext cx="29260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6B0BE"/>
                </a:solidFill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29768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E1C30"/>
                </a:solidFill>
              </a:defRPr>
            </a:pPr>
            <a:r>
              <a:t>Bills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0" y="4727448"/>
            <a:ext cx="438912" cy="384048"/>
          </a:xfrm>
          <a:prstGeom prst="roundRect">
            <a:avLst/>
          </a:prstGeom>
          <a:solidFill>
            <a:srgbClr val="E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45552" y="4800600"/>
            <a:ext cx="29260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6B0BE"/>
                </a:solidFill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480060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E1C30"/>
                </a:solidFill>
              </a:defRPr>
            </a:pPr>
            <a:r>
              <a:t>Activity Logs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53949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C7E"/>
                </a:solidFill>
              </a:defRPr>
            </a:pPr>
            <a:r>
              <a:t>Tip: show more sheets during the live demo.</a:t>
            </a:r>
          </a:p>
        </p:txBody>
      </p:sp>
      <p:pic>
        <p:nvPicPr>
          <p:cNvPr id="33" name="Picture 32" descr="Screenshot 2026-07-27 1255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755" y="1588770"/>
            <a:ext cx="3031490" cy="1703070"/>
          </a:xfrm>
          <a:prstGeom prst="rect">
            <a:avLst/>
          </a:prstGeom>
        </p:spPr>
      </p:pic>
      <p:pic>
        <p:nvPicPr>
          <p:cNvPr id="34" name="Picture 33" descr="Screenshot 2026-07-27 1307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755" y="3602990"/>
            <a:ext cx="3133090" cy="1825625"/>
          </a:xfrm>
          <a:prstGeom prst="rect">
            <a:avLst/>
          </a:prstGeom>
        </p:spPr>
      </p:pic>
      <p:pic>
        <p:nvPicPr>
          <p:cNvPr id="35" name="Picture 34" descr="Screenshot 2026-07-27 1302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845" y="1683385"/>
            <a:ext cx="2799080" cy="1641475"/>
          </a:xfrm>
          <a:prstGeom prst="rect">
            <a:avLst/>
          </a:prstGeom>
        </p:spPr>
      </p:pic>
      <p:pic>
        <p:nvPicPr>
          <p:cNvPr id="36" name="Picture 35" descr="Screenshot 2026-07-27 1309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7725" y="3602990"/>
            <a:ext cx="2489200" cy="19564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36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6B0BE"/>
                </a:solidFill>
              </a:defRPr>
            </a:pPr>
            <a:r>
              <a:t>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51052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C6C7E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E1C30"/>
                </a:solidFill>
              </a:defRPr>
            </a:pPr>
            <a:r>
              <a:t>Weekly Hospital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78992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C7E"/>
                </a:solidFill>
              </a:defRPr>
            </a:pPr>
            <a:r>
              <a:t>Scheduled aggregation + AI-assisted summary.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63040"/>
            <a:ext cx="69037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" y="1627632"/>
            <a:ext cx="73152" cy="4014215"/>
          </a:xfrm>
          <a:prstGeom prst="rect">
            <a:avLst/>
          </a:prstGeom>
          <a:solidFill>
            <a:srgbClr val="236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879592"/>
            <a:ext cx="6903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C6C7E"/>
                </a:solidFill>
              </a:defRPr>
            </a:pPr>
            <a:r>
              <a:t>Figure 12 — Hospital Weekly Analytics Workflow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463040"/>
            <a:ext cx="374903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36992" y="1627632"/>
            <a:ext cx="502920" cy="384048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10144" y="1700784"/>
            <a:ext cx="3566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364D2"/>
                </a:solidFill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627632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E1C30"/>
                </a:solidFill>
              </a:defRPr>
            </a:pPr>
            <a:r>
              <a:t>Collect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121408"/>
            <a:ext cx="338327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C6C7E"/>
                </a:solidFill>
              </a:defRPr>
            </a:pPr>
            <a:r>
              <a:t>Read relevant rows from Google Sheets.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2761488"/>
            <a:ext cx="374903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36992" y="2926080"/>
            <a:ext cx="502920" cy="384048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0144" y="2999232"/>
            <a:ext cx="3566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6B0BE"/>
                </a:solidFill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926080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E1C30"/>
                </a:solidFill>
              </a:defRPr>
            </a:pPr>
            <a:r>
              <a:t>Aggregate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3419856"/>
            <a:ext cx="338327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C6C7E"/>
                </a:solidFill>
              </a:defRPr>
            </a:pPr>
            <a:r>
              <a:t>Combine records for weekly reporting.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4059936"/>
            <a:ext cx="374903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936992" y="4224528"/>
            <a:ext cx="502920" cy="384048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0144" y="4297680"/>
            <a:ext cx="3566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C9169"/>
                </a:solidFill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4224528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E1C30"/>
                </a:solidFill>
              </a:defRPr>
            </a:pPr>
            <a:r>
              <a:t>Summarize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4718304"/>
            <a:ext cx="338327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C6C7E"/>
                </a:solidFill>
              </a:defRPr>
            </a:pPr>
            <a:r>
              <a:t>OpenAI prepares readable analytics when quota is available.</a:t>
            </a:r>
          </a:p>
        </p:txBody>
      </p:sp>
      <p:pic>
        <p:nvPicPr>
          <p:cNvPr id="27" name="Picture 26" descr="Screenshot 2026-07-27 13124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830" y="1627505"/>
            <a:ext cx="5979795" cy="40493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36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6B0BE"/>
                </a:solidFill>
              </a:defRPr>
            </a:pPr>
            <a:r>
              <a:t>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51052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C6C7E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E1C30"/>
                </a:solidFill>
              </a:defRPr>
            </a:pPr>
            <a:r>
              <a:t>Activity Log + Error Handling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78992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C7E"/>
                </a:solidFill>
              </a:defRPr>
            </a:pPr>
            <a:r>
              <a:t>The project records normal activity and also surfaces failures.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58595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" y="1581912"/>
            <a:ext cx="73152" cy="1545336"/>
          </a:xfrm>
          <a:prstGeom prst="rect">
            <a:avLst/>
          </a:prstGeom>
          <a:solidFill>
            <a:srgbClr val="236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364991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C6C7E"/>
                </a:solidFill>
              </a:defRPr>
            </a:pPr>
            <a:r>
              <a:t>Figure 13 — Activity Log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70332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8952" y="3867911"/>
            <a:ext cx="73152" cy="1545336"/>
          </a:xfrm>
          <a:prstGeom prst="rect">
            <a:avLst/>
          </a:prstGeom>
          <a:solidFill>
            <a:srgbClr val="236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650992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C6C7E"/>
                </a:solidFill>
              </a:defRPr>
            </a:pPr>
            <a:r>
              <a:t>Figure 14 — Error Notification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417320"/>
            <a:ext cx="5349240" cy="4160520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7830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364D2"/>
                </a:solidFill>
              </a:defRPr>
            </a:pPr>
            <a:r>
              <a:t>REAL ERROR EXAMPLE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267712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E1C30"/>
                </a:solidFill>
              </a:defRPr>
            </a:pPr>
            <a:r>
              <a:t>Hospital Weekly Analytics</a:t>
            </a:r>
            <a:br/>
            <a:r>
              <a:t>Failed node: Message a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182112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D4949"/>
                </a:solidFill>
              </a:defRPr>
            </a:pPr>
            <a:r>
              <a:t>Cause shown by OpenAI:</a:t>
            </a:r>
            <a:br/>
            <a:r>
              <a:t>API quota / too many requests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096512"/>
            <a:ext cx="4480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C7E"/>
                </a:solidFill>
              </a:defRPr>
            </a:pPr>
            <a:r>
              <a:t>Why it matters:</a:t>
            </a:r>
            <a:br/>
            <a:r>
              <a:t>The administrator receives enough execution information to investigate the failure.</a:t>
            </a:r>
          </a:p>
        </p:txBody>
      </p:sp>
      <p:pic>
        <p:nvPicPr>
          <p:cNvPr id="22" name="Picture 21" descr="Screenshot 2026-07-27 1314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210" y="1558925"/>
            <a:ext cx="4806950" cy="1774190"/>
          </a:xfrm>
          <a:prstGeom prst="rect">
            <a:avLst/>
          </a:prstGeom>
        </p:spPr>
      </p:pic>
      <p:pic>
        <p:nvPicPr>
          <p:cNvPr id="23" name="Picture 22" descr="Screenshot 2026-07-27 1236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25" y="3830955"/>
            <a:ext cx="4906645" cy="15055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36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6B0BE"/>
                </a:solidFill>
              </a:defRPr>
            </a:pPr>
            <a: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51052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C6C7E"/>
                </a:solidFill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E1C30"/>
                </a:solidFill>
              </a:defRPr>
            </a:pPr>
            <a:r>
              <a:t>Technology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2688" y="1783080"/>
            <a:ext cx="566928" cy="566928"/>
          </a:xfrm>
          <a:prstGeom prst="roundRect">
            <a:avLst/>
          </a:prstGeom>
          <a:solidFill>
            <a:srgbClr val="236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1810512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1C30"/>
                </a:solidFill>
              </a:defRPr>
            </a:pPr>
            <a:r>
              <a:t>n8n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67712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C6C7E"/>
                </a:solidFill>
              </a:defRPr>
            </a:pPr>
            <a:r>
              <a:t>Automation 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55448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81727" y="1783080"/>
            <a:ext cx="566928" cy="566928"/>
          </a:xfrm>
          <a:prstGeom prst="roundRect">
            <a:avLst/>
          </a:prstGeom>
          <a:solidFill>
            <a:srgbClr val="1C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0679" y="1810512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1C30"/>
                </a:solidFill>
              </a:defRPr>
            </a:pPr>
            <a:r>
              <a:t>OpenAI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79" y="2267712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C6C7E"/>
                </a:solidFill>
              </a:defRPr>
            </a:pPr>
            <a:r>
              <a:t>AI processing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5448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30768" y="1783080"/>
            <a:ext cx="566928" cy="566928"/>
          </a:xfrm>
          <a:prstGeom prst="roundRect">
            <a:avLst/>
          </a:prstGeom>
          <a:solidFill>
            <a:srgbClr val="26B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1810512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1C30"/>
                </a:solidFill>
              </a:defRPr>
            </a:pPr>
            <a:r>
              <a:t>OCR.Space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2267712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C6C7E"/>
                </a:solidFill>
              </a:defRPr>
            </a:pPr>
            <a:r>
              <a:t>Report OCR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520439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2688" y="3749039"/>
            <a:ext cx="566928" cy="566928"/>
          </a:xfrm>
          <a:prstGeom prst="roundRect">
            <a:avLst/>
          </a:prstGeom>
          <a:solidFill>
            <a:srgbClr val="236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91640" y="3776472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1C30"/>
                </a:solidFill>
              </a:defRPr>
            </a:pPr>
            <a:r>
              <a:t>Google Sheets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233672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C6C7E"/>
                </a:solidFill>
              </a:defRPr>
            </a:pPr>
            <a:r>
              <a:t>Project database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59" y="3520439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81727" y="3749039"/>
            <a:ext cx="566928" cy="566928"/>
          </a:xfrm>
          <a:prstGeom prst="roundRect">
            <a:avLst/>
          </a:prstGeom>
          <a:solidFill>
            <a:srgbClr val="1C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40679" y="3776472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1C30"/>
                </a:solidFill>
              </a:defRPr>
            </a:pPr>
            <a:r>
              <a:t>Google Calendar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79" y="4233672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C6C7E"/>
                </a:solidFill>
              </a:defRPr>
            </a:pPr>
            <a:r>
              <a:t>Scheduling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520439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30768" y="3749039"/>
            <a:ext cx="566928" cy="566928"/>
          </a:xfrm>
          <a:prstGeom prst="roundRect">
            <a:avLst/>
          </a:prstGeom>
          <a:solidFill>
            <a:srgbClr val="26B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9720" y="3776472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1C30"/>
                </a:solidFill>
              </a:defRPr>
            </a:pPr>
            <a:r>
              <a:t>Gmail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4233672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C6C7E"/>
                </a:solidFill>
              </a:defRPr>
            </a:pPr>
            <a:r>
              <a:t>Notifications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7150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C7E"/>
                </a:solidFill>
              </a:defRPr>
            </a:pPr>
            <a:r>
              <a:t>Design choice: managed services keep the prototype focused on workflow logic rather than a custom backend.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36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6B0BE"/>
                </a:solidFill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51052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C6C7E"/>
                </a:solidFill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E1C30"/>
                </a:solidFill>
              </a:defRPr>
            </a:pPr>
            <a:r>
              <a:t>What the prototype demonstrates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764792"/>
            <a:ext cx="457200" cy="384048"/>
          </a:xfrm>
          <a:prstGeom prst="roundRect">
            <a:avLst/>
          </a:prstGeom>
          <a:solidFill>
            <a:srgbClr val="E7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1837943"/>
            <a:ext cx="3108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C9169"/>
                </a:solidFill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76479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E1C30"/>
                </a:solidFill>
              </a:defRPr>
            </a:pPr>
            <a:r>
              <a:t>Registration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5915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C7E"/>
                </a:solidFill>
              </a:defRPr>
            </a:pPr>
            <a:r>
              <a:t>Duplicate check + record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8" y="160020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11880" y="1764792"/>
            <a:ext cx="457200" cy="384048"/>
          </a:xfrm>
          <a:prstGeom prst="roundRect">
            <a:avLst/>
          </a:prstGeom>
          <a:solidFill>
            <a:srgbClr val="E7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5032" y="1837943"/>
            <a:ext cx="3108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C9169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4528" y="176479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E1C30"/>
                </a:solidFill>
              </a:defRPr>
            </a:pPr>
            <a:r>
              <a:t>Appointments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235915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C7E"/>
                </a:solidFill>
              </a:defRPr>
            </a:pPr>
            <a:r>
              <a:t>Calendar + confirmation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0216" y="160020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64808" y="1764792"/>
            <a:ext cx="457200" cy="384048"/>
          </a:xfrm>
          <a:prstGeom prst="roundRect">
            <a:avLst/>
          </a:prstGeom>
          <a:solidFill>
            <a:srgbClr val="E7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837943"/>
            <a:ext cx="3108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C9169"/>
                </a:solidFill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76479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E1C30"/>
                </a:solidFill>
              </a:defRPr>
            </a:pPr>
            <a:r>
              <a:t>Reports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3096" y="235915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C7E"/>
                </a:solidFill>
              </a:defRPr>
            </a:pPr>
            <a:r>
              <a:t>OCR + AI summary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53144" y="160020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317736" y="1764792"/>
            <a:ext cx="457200" cy="384048"/>
          </a:xfrm>
          <a:prstGeom prst="roundRect">
            <a:avLst/>
          </a:prstGeom>
          <a:solidFill>
            <a:srgbClr val="E7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90888" y="1837943"/>
            <a:ext cx="3108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C9169"/>
                </a:solidFill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30384" y="176479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E1C30"/>
                </a:solidFill>
              </a:defRPr>
            </a:pPr>
            <a:r>
              <a:t>Reminders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36024" y="235915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C7E"/>
                </a:solidFill>
              </a:defRPr>
            </a:pPr>
            <a:r>
              <a:t>Scheduled Gmail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56616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58952" y="3730752"/>
            <a:ext cx="457200" cy="384048"/>
          </a:xfrm>
          <a:prstGeom prst="roundRect">
            <a:avLst/>
          </a:prstGeom>
          <a:solidFill>
            <a:srgbClr val="E7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" y="3803904"/>
            <a:ext cx="3108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C9169"/>
                </a:solidFill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73075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E1C30"/>
                </a:solidFill>
              </a:defRPr>
            </a:pPr>
            <a:r>
              <a:t>Billing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32511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C7E"/>
                </a:solidFill>
              </a:defRPr>
            </a:pPr>
            <a:r>
              <a:t>Calculated + stored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47288" y="356616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611880" y="3730752"/>
            <a:ext cx="457200" cy="384048"/>
          </a:xfrm>
          <a:prstGeom prst="roundRect">
            <a:avLst/>
          </a:prstGeom>
          <a:solidFill>
            <a:srgbClr val="E7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85032" y="3803904"/>
            <a:ext cx="3108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C9169"/>
                </a:solidFill>
              </a:defRPr>
            </a:pPr>
            <a: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24528" y="373075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E1C30"/>
                </a:solidFill>
              </a:defRPr>
            </a:pPr>
            <a:r>
              <a:t>Analytics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30168" y="432511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C7E"/>
                </a:solidFill>
              </a:defRPr>
            </a:pPr>
            <a:r>
              <a:t>Weekly summary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0216" y="356616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64808" y="3730752"/>
            <a:ext cx="457200" cy="384048"/>
          </a:xfrm>
          <a:prstGeom prst="roundRect">
            <a:avLst/>
          </a:prstGeom>
          <a:solidFill>
            <a:srgbClr val="E7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3803904"/>
            <a:ext cx="3108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C9169"/>
                </a:solidFill>
              </a:defRPr>
            </a:pPr>
            <a: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77456" y="373075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E1C30"/>
                </a:solidFill>
              </a:defRPr>
            </a:pPr>
            <a:r>
              <a:t>Logs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83096" y="432511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C7E"/>
                </a:solidFill>
              </a:defRPr>
            </a:pPr>
            <a:r>
              <a:t>Execution history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53144" y="356616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317736" y="3730752"/>
            <a:ext cx="457200" cy="384048"/>
          </a:xfrm>
          <a:prstGeom prst="roundRect">
            <a:avLst/>
          </a:prstGeom>
          <a:solidFill>
            <a:srgbClr val="E7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90888" y="3803904"/>
            <a:ext cx="3108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C9169"/>
                </a:solidFill>
              </a:defRPr>
            </a:pPr>
            <a: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30384" y="373075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E1C30"/>
                </a:solidFill>
              </a:defRPr>
            </a:pPr>
            <a:r>
              <a:t>Errors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36024" y="432511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C7E"/>
                </a:solidFill>
              </a:defRPr>
            </a:pPr>
            <a:r>
              <a:t>Automatic alert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05840" y="5486400"/>
            <a:ext cx="10058400" cy="548640"/>
          </a:xfrm>
          <a:prstGeom prst="roundRect">
            <a:avLst/>
          </a:prstGeom>
          <a:solidFill>
            <a:srgbClr val="0E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88720" y="5650992"/>
            <a:ext cx="9692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One project • multiple independent workflows • shared data and monitoring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36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6B0BE"/>
                </a:solidFill>
              </a:defRPr>
            </a:pPr>
            <a: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51052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C6C7E"/>
                </a:solidFill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E1C30"/>
                </a:solidFill>
              </a:defRPr>
            </a:pPr>
            <a:r>
              <a:t>Limitations &amp; Future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64008" cy="4434840"/>
          </a:xfrm>
          <a:prstGeom prst="rect">
            <a:avLst/>
          </a:prstGeom>
          <a:solidFill>
            <a:srgbClr val="CD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90472"/>
            <a:ext cx="4892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A4C"/>
                </a:solidFill>
              </a:defRPr>
            </a:pPr>
            <a:r>
              <a:t>Current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47672"/>
            <a:ext cx="4864608" cy="3657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F2A37"/>
                </a:solidFill>
              </a:defRPr>
            </a:pPr>
            <a:r>
              <a:t>• Google Sheets is suitable for the academic prototype, not a full production EHR.</a:t>
            </a:r>
          </a:p>
          <a:p>
            <a:pPr>
              <a:spcAft>
                <a:spcPts val="700"/>
              </a:spcAft>
              <a:defRPr sz="1200">
                <a:solidFill>
                  <a:srgbClr val="1F2A37"/>
                </a:solidFill>
              </a:defRPr>
            </a:pPr>
            <a:r>
              <a:t>• OpenAI output can be affected by API quota and model limitations.</a:t>
            </a:r>
          </a:p>
          <a:p>
            <a:pPr>
              <a:spcAft>
                <a:spcPts val="700"/>
              </a:spcAft>
              <a:defRPr sz="1200">
                <a:solidFill>
                  <a:srgbClr val="1F2A37"/>
                </a:solidFill>
              </a:defRPr>
            </a:pPr>
            <a:r>
              <a:t>• AI medical output must be reviewed by qualified healthcare professionals.</a:t>
            </a:r>
          </a:p>
          <a:p>
            <a:pPr>
              <a:spcAft>
                <a:spcPts val="700"/>
              </a:spcAft>
              <a:defRPr sz="1200">
                <a:solidFill>
                  <a:srgbClr val="1F2A37"/>
                </a:solidFill>
              </a:defRPr>
            </a:pPr>
            <a:r>
              <a:t>• Production deployment would require stronger privacy, security and validation controls.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64008" cy="4434840"/>
          </a:xfrm>
          <a:prstGeom prst="rect">
            <a:avLst/>
          </a:prstGeom>
          <a:solidFill>
            <a:srgbClr val="1C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490472"/>
            <a:ext cx="4892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A4C"/>
                </a:solidFill>
              </a:defRPr>
            </a:pPr>
            <a:r>
              <a:t>Future Improvements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47672"/>
            <a:ext cx="4864608" cy="3657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F2A37"/>
                </a:solidFill>
              </a:defRPr>
            </a:pPr>
            <a:r>
              <a:t>• Patient, doctor and administrator interfaces.</a:t>
            </a:r>
          </a:p>
          <a:p>
            <a:pPr>
              <a:spcAft>
                <a:spcPts val="700"/>
              </a:spcAft>
              <a:defRPr sz="1200">
                <a:solidFill>
                  <a:srgbClr val="1F2A37"/>
                </a:solidFill>
              </a:defRPr>
            </a:pPr>
            <a:r>
              <a:t>• Production-grade database and role-based authentication.</a:t>
            </a:r>
          </a:p>
          <a:p>
            <a:pPr>
              <a:spcAft>
                <a:spcPts val="700"/>
              </a:spcAft>
              <a:defRPr sz="1200">
                <a:solidFill>
                  <a:srgbClr val="1F2A37"/>
                </a:solidFill>
              </a:defRPr>
            </a:pPr>
            <a:r>
              <a:t>• EHR/HIS and insurance integrations.</a:t>
            </a:r>
          </a:p>
          <a:p>
            <a:pPr>
              <a:spcAft>
                <a:spcPts val="700"/>
              </a:spcAft>
              <a:defRPr sz="1200">
                <a:solidFill>
                  <a:srgbClr val="1F2A37"/>
                </a:solidFill>
              </a:defRPr>
            </a:pPr>
            <a:r>
              <a:t>• Operational dashboards and richer analytics.</a:t>
            </a:r>
          </a:p>
          <a:p>
            <a:pPr>
              <a:spcAft>
                <a:spcPts val="700"/>
              </a:spcAft>
              <a:defRPr sz="1200">
                <a:solidFill>
                  <a:srgbClr val="1F2A37"/>
                </a:solidFill>
              </a:defRPr>
            </a:pPr>
            <a:r>
              <a:t>• Human-reviewed clinical AI with stronger governance.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Rounded Rectangle 5"/>
          <p:cNvSpPr/>
          <p:nvPr/>
        </p:nvSpPr>
        <p:spPr>
          <a:xfrm>
            <a:off x="777240" y="566928"/>
            <a:ext cx="1645920" cy="393192"/>
          </a:xfrm>
          <a:prstGeom prst="roundRect">
            <a:avLst/>
          </a:prstGeom>
          <a:solidFill>
            <a:srgbClr val="48C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658368"/>
            <a:ext cx="149961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8182B"/>
                </a:solidFill>
              </a:defRPr>
            </a:pPr>
            <a:r>
              <a:t>PROJECT 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98448"/>
            <a:ext cx="6858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545" y="1627505"/>
            <a:ext cx="609282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8CFD5"/>
                </a:solidFill>
              </a:defRPr>
            </a:pPr>
            <a:r>
              <a:t>AI Hospital Patient Management System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234440"/>
            <a:ext cx="2971800" cy="4251960"/>
          </a:xfrm>
          <a:prstGeom prst="roundRect">
            <a:avLst/>
          </a:prstGeom>
          <a:solidFill>
            <a:srgbClr val="12314F"/>
          </a:solidFill>
          <a:ln>
            <a:solidFill>
              <a:srgbClr val="274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22335" y="1628013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8CFD5"/>
                </a:solidFill>
              </a:defRPr>
            </a:pPr>
            <a:r>
              <a:t>PROJECT HIGHLIGHTS</a:t>
            </a:r>
          </a:p>
        </p:txBody>
      </p:sp>
      <p:sp>
        <p:nvSpPr>
          <p:cNvPr id="13" name="Oval 12"/>
          <p:cNvSpPr/>
          <p:nvPr/>
        </p:nvSpPr>
        <p:spPr>
          <a:xfrm>
            <a:off x="8549640" y="2130551"/>
            <a:ext cx="109728" cy="109728"/>
          </a:xfrm>
          <a:prstGeom prst="ellipse">
            <a:avLst/>
          </a:prstGeom>
          <a:solidFill>
            <a:srgbClr val="48C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96528" y="2084831"/>
            <a:ext cx="20574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FFFFF"/>
                </a:solidFill>
              </a:defRPr>
            </a:pPr>
            <a:r>
              <a:t>Patient Registration</a:t>
            </a:r>
          </a:p>
        </p:txBody>
      </p:sp>
      <p:sp>
        <p:nvSpPr>
          <p:cNvPr id="15" name="Oval 14"/>
          <p:cNvSpPr/>
          <p:nvPr/>
        </p:nvSpPr>
        <p:spPr>
          <a:xfrm>
            <a:off x="8549640" y="2560320"/>
            <a:ext cx="109728" cy="109728"/>
          </a:xfrm>
          <a:prstGeom prst="ellipse">
            <a:avLst/>
          </a:prstGeom>
          <a:solidFill>
            <a:srgbClr val="48C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96528" y="2514600"/>
            <a:ext cx="20574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FFFFF"/>
                </a:solidFill>
              </a:defRPr>
            </a:pPr>
            <a:r>
              <a:t>Appointment Booking</a:t>
            </a:r>
          </a:p>
        </p:txBody>
      </p:sp>
      <p:sp>
        <p:nvSpPr>
          <p:cNvPr id="17" name="Oval 16"/>
          <p:cNvSpPr/>
          <p:nvPr/>
        </p:nvSpPr>
        <p:spPr>
          <a:xfrm>
            <a:off x="8549640" y="2990087"/>
            <a:ext cx="109728" cy="109728"/>
          </a:xfrm>
          <a:prstGeom prst="ellipse">
            <a:avLst/>
          </a:prstGeom>
          <a:solidFill>
            <a:srgbClr val="48C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96528" y="2944368"/>
            <a:ext cx="20574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FFFFF"/>
                </a:solidFill>
              </a:defRPr>
            </a:pPr>
            <a:r>
              <a:t>AI Medical Report Analysis</a:t>
            </a:r>
          </a:p>
        </p:txBody>
      </p:sp>
      <p:sp>
        <p:nvSpPr>
          <p:cNvPr id="19" name="Oval 18"/>
          <p:cNvSpPr/>
          <p:nvPr/>
        </p:nvSpPr>
        <p:spPr>
          <a:xfrm>
            <a:off x="8549640" y="3419855"/>
            <a:ext cx="109728" cy="109728"/>
          </a:xfrm>
          <a:prstGeom prst="ellipse">
            <a:avLst/>
          </a:prstGeom>
          <a:solidFill>
            <a:srgbClr val="48C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96528" y="3374135"/>
            <a:ext cx="20574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FFFFF"/>
                </a:solidFill>
              </a:defRPr>
            </a:pPr>
            <a:r>
              <a:t>Medication Reminder</a:t>
            </a:r>
          </a:p>
        </p:txBody>
      </p:sp>
      <p:sp>
        <p:nvSpPr>
          <p:cNvPr id="21" name="Oval 20"/>
          <p:cNvSpPr/>
          <p:nvPr/>
        </p:nvSpPr>
        <p:spPr>
          <a:xfrm>
            <a:off x="8549640" y="3849624"/>
            <a:ext cx="109728" cy="109728"/>
          </a:xfrm>
          <a:prstGeom prst="ellipse">
            <a:avLst/>
          </a:prstGeom>
          <a:solidFill>
            <a:srgbClr val="48C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96528" y="3803904"/>
            <a:ext cx="20574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FFFFF"/>
                </a:solidFill>
              </a:defRPr>
            </a:pPr>
            <a:r>
              <a:t>Automated Billing</a:t>
            </a:r>
          </a:p>
        </p:txBody>
      </p:sp>
      <p:sp>
        <p:nvSpPr>
          <p:cNvPr id="23" name="Oval 22"/>
          <p:cNvSpPr/>
          <p:nvPr/>
        </p:nvSpPr>
        <p:spPr>
          <a:xfrm>
            <a:off x="8549640" y="4279391"/>
            <a:ext cx="109728" cy="109728"/>
          </a:xfrm>
          <a:prstGeom prst="ellipse">
            <a:avLst/>
          </a:prstGeom>
          <a:solidFill>
            <a:srgbClr val="48C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96528" y="4233671"/>
            <a:ext cx="20574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FFFFF"/>
                </a:solidFill>
              </a:defRPr>
            </a:pPr>
            <a:r>
              <a:t>Weekly Analytics</a:t>
            </a:r>
          </a:p>
        </p:txBody>
      </p:sp>
      <p:sp>
        <p:nvSpPr>
          <p:cNvPr id="25" name="Oval 24"/>
          <p:cNvSpPr/>
          <p:nvPr/>
        </p:nvSpPr>
        <p:spPr>
          <a:xfrm>
            <a:off x="8549640" y="4709159"/>
            <a:ext cx="109728" cy="109728"/>
          </a:xfrm>
          <a:prstGeom prst="ellipse">
            <a:avLst/>
          </a:prstGeom>
          <a:solidFill>
            <a:srgbClr val="48C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96528" y="4663440"/>
            <a:ext cx="20574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FFFFF"/>
                </a:solidFill>
              </a:defRPr>
            </a:pPr>
            <a:r>
              <a:t>Activity &amp; Error Monitoring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4251960"/>
            <a:ext cx="685800" cy="402336"/>
          </a:xfrm>
          <a:prstGeom prst="roundRect">
            <a:avLst/>
          </a:prstGeom>
          <a:solidFill>
            <a:srgbClr val="E0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" y="4352544"/>
            <a:ext cx="6126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8182B"/>
                </a:solidFill>
              </a:defRPr>
            </a:pPr>
            <a:r>
              <a:t>n8n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627632" y="4251960"/>
            <a:ext cx="960120" cy="402336"/>
          </a:xfrm>
          <a:prstGeom prst="roundRect">
            <a:avLst/>
          </a:prstGeom>
          <a:solidFill>
            <a:srgbClr val="E0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64208" y="4352544"/>
            <a:ext cx="8869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8182B"/>
                </a:solidFill>
              </a:defRPr>
            </a:pPr>
            <a:r>
              <a:t>OpenAI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06624" y="4251960"/>
            <a:ext cx="1143000" cy="402336"/>
          </a:xfrm>
          <a:prstGeom prst="roundRect">
            <a:avLst/>
          </a:prstGeom>
          <a:solidFill>
            <a:srgbClr val="E0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0" y="4352544"/>
            <a:ext cx="10698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8182B"/>
                </a:solidFill>
              </a:defRPr>
            </a:pPr>
            <a:r>
              <a:t>OCR.Space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68496" y="4251960"/>
            <a:ext cx="868680" cy="402336"/>
          </a:xfrm>
          <a:prstGeom prst="roundRect">
            <a:avLst/>
          </a:prstGeom>
          <a:solidFill>
            <a:srgbClr val="E0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05072" y="4352544"/>
            <a:ext cx="79552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8182B"/>
                </a:solidFill>
              </a:defRPr>
            </a:pPr>
            <a:r>
              <a:t>Sheets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956048" y="4251960"/>
            <a:ext cx="1051560" cy="402336"/>
          </a:xfrm>
          <a:prstGeom prst="roundRect">
            <a:avLst/>
          </a:prstGeom>
          <a:solidFill>
            <a:srgbClr val="E0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92624" y="4352544"/>
            <a:ext cx="97840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8182B"/>
                </a:solidFill>
              </a:defRPr>
            </a:pPr>
            <a:r>
              <a:t>Calendar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79" y="4251960"/>
            <a:ext cx="777240" cy="402336"/>
          </a:xfrm>
          <a:prstGeom prst="roundRect">
            <a:avLst/>
          </a:prstGeom>
          <a:solidFill>
            <a:srgbClr val="E0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63055" y="4352544"/>
            <a:ext cx="70408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8182B"/>
                </a:solidFill>
              </a:defRPr>
            </a:pPr>
            <a:r>
              <a:t>Gmail</a:t>
            </a:r>
          </a:p>
        </p:txBody>
      </p:sp>
      <p:sp>
        <p:nvSpPr>
          <p:cNvPr id="42" name="TextBox 9"/>
          <p:cNvSpPr txBox="1"/>
          <p:nvPr/>
        </p:nvSpPr>
        <p:spPr>
          <a:xfrm>
            <a:off x="330200" y="2670175"/>
            <a:ext cx="5641340" cy="5537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>
              <a:defRPr sz="1700">
                <a:solidFill>
                  <a:srgbClr val="FFFFFF"/>
                </a:solidFill>
              </a:defRPr>
            </a:pPr>
            <a:r>
              <a:rPr lang="en-IN"/>
              <a:t>cCccc</a:t>
            </a:r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5113</Words>
  <Application>WPS Presentation</Application>
  <PresentationFormat>On-screen Show (4:3)</PresentationFormat>
  <Paragraphs>529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karan</cp:lastModifiedBy>
  <cp:revision>2</cp:revision>
  <dcterms:created xsi:type="dcterms:W3CDTF">2013-01-27T09:14:00Z</dcterms:created>
  <dcterms:modified xsi:type="dcterms:W3CDTF">2026-07-27T09:42:54Z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F30F06AEBA054F9E8DAE460CEB82DA99_13</vt:lpwstr>
  </property>
  <property fmtid="{D5CDD505-2E9C-101B-9397-08002B2CF9AE}" pid="3" name="KSOProductBuildVer">
    <vt:lpwstr>1033-12.1.0.27458</vt:lpwstr>
  </property>
</Properties>
</file>